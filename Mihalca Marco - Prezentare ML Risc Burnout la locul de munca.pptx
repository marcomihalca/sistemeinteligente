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y="6858000" cx="12192000"/>
  <p:notesSz cx="6858000" cy="9144000"/>
  <p:embeddedFontLst>
    <p:embeddedFont>
      <p:font typeface="Urbanist Medium"/>
      <p:regular r:id="rId19"/>
      <p:bold r:id="rId20"/>
      <p:italic r:id="rId21"/>
      <p:boldItalic r:id="rId22"/>
    </p:embeddedFont>
    <p:embeddedFont>
      <p:font typeface="Urbanist"/>
      <p:regular r:id="rId23"/>
      <p:bold r:id="rId24"/>
      <p:italic r:id="rId25"/>
      <p:boldItalic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48848615-40A1-48D3-9EAC-01F8D0EFC8EE}">
  <a:tblStyle styleId="{48848615-40A1-48D3-9EAC-01F8D0EFC8EE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UrbanistMedium-bold.fntdata"/><Relationship Id="rId22" Type="http://schemas.openxmlformats.org/officeDocument/2006/relationships/font" Target="fonts/UrbanistMedium-boldItalic.fntdata"/><Relationship Id="rId21" Type="http://schemas.openxmlformats.org/officeDocument/2006/relationships/font" Target="fonts/UrbanistMedium-italic.fntdata"/><Relationship Id="rId24" Type="http://schemas.openxmlformats.org/officeDocument/2006/relationships/font" Target="fonts/Urbanist-bold.fntdata"/><Relationship Id="rId23" Type="http://schemas.openxmlformats.org/officeDocument/2006/relationships/font" Target="fonts/Urbanist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Urbanist-boldItalic.fntdata"/><Relationship Id="rId25" Type="http://schemas.openxmlformats.org/officeDocument/2006/relationships/font" Target="fonts/Urbanist-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font" Target="fonts/UrbanistMedium-regular.fntdata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OMS = Order Management System; salvare de vieti pentru ca daca face ceva gresit, poate sa isi distruga cariera, indirect si viata.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Bonusurile / zilele libere pot fi decise in functie de persoana, deoarece acest statut o sa fie raportat unui sef de departament care bineinteles, stie mai multe despre persoana respectiva.</a:t>
            </a:r>
            <a:endParaRPr/>
          </a:p>
        </p:txBody>
      </p:sp>
      <p:sp>
        <p:nvSpPr>
          <p:cNvPr id="91" name="Google Shape;91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e2af055f17_0_1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3e2af055f17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deci chiar daca cineva are MULT mai mult de lucru, acesta nu se va simti la fel de extenuat decat o persoana care este deprivata de orele esentiale de somn</a:t>
            </a:r>
            <a:endParaRPr/>
          </a:p>
        </p:txBody>
      </p:sp>
      <p:sp>
        <p:nvSpPr>
          <p:cNvPr id="196" name="Google Shape;196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1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17.png"/><Relationship Id="rId5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4.png"/><Relationship Id="rId5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13.png"/><Relationship Id="rId5" Type="http://schemas.openxmlformats.org/officeDocument/2006/relationships/image" Target="../media/image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Relationship Id="rId4" Type="http://schemas.openxmlformats.org/officeDocument/2006/relationships/image" Target="../media/image15.png"/><Relationship Id="rId5" Type="http://schemas.openxmlformats.org/officeDocument/2006/relationships/image" Target="../media/image8.png"/><Relationship Id="rId6" Type="http://schemas.openxmlformats.org/officeDocument/2006/relationships/image" Target="../media/image18.png"/><Relationship Id="rId7" Type="http://schemas.openxmlformats.org/officeDocument/2006/relationships/image" Target="../media/image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Relationship Id="rId4" Type="http://schemas.openxmlformats.org/officeDocument/2006/relationships/image" Target="../media/image1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Relationship Id="rId4" Type="http://schemas.openxmlformats.org/officeDocument/2006/relationships/image" Target="../media/image1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Relationship Id="rId4" Type="http://schemas.openxmlformats.org/officeDocument/2006/relationships/image" Target="../media/image14.png"/><Relationship Id="rId5" Type="http://schemas.openxmlformats.org/officeDocument/2006/relationships/image" Target="../media/image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295275" y="1919436"/>
            <a:ext cx="11601450" cy="809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25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Prezicerea Nivelului de </a:t>
            </a:r>
            <a:r>
              <a:rPr b="1" i="0" lang="en-US" sz="525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Burnout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571500" y="2919561"/>
            <a:ext cx="11049000" cy="2399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O abordare inovatoare bazată pe Machine Learning pentru sănătatea organizațională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571500" y="3635722"/>
            <a:ext cx="11049000" cy="2399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DAFFDE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Autor: Marco Mihalca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571500" y="4047083"/>
            <a:ext cx="11049000" cy="186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Mai 2026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3" name="Google Shape;93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4"/>
          <p:cNvSpPr txBox="1"/>
          <p:nvPr/>
        </p:nvSpPr>
        <p:spPr>
          <a:xfrm>
            <a:off x="3619575" y="1979747"/>
            <a:ext cx="5200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99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Motivația </a:t>
            </a:r>
            <a:r>
              <a:rPr b="1" i="0" lang="en-US" sz="36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Personală</a:t>
            </a:r>
            <a:endParaRPr/>
          </a:p>
        </p:txBody>
      </p:sp>
      <p:sp>
        <p:nvSpPr>
          <p:cNvPr id="95" name="Google Shape;95;p14"/>
          <p:cNvSpPr txBox="1"/>
          <p:nvPr/>
        </p:nvSpPr>
        <p:spPr>
          <a:xfrm>
            <a:off x="3619575" y="2807312"/>
            <a:ext cx="4953000" cy="10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Burnout-ul este recunoscut de OMS ca un sindrom rezultat din stresul cronic negestionat. Am ales această temă din dorința de a crea o </a:t>
            </a:r>
            <a:r>
              <a:rPr b="1" i="0" lang="en-US" sz="13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unealtă de prevenție</a:t>
            </a:r>
            <a:r>
              <a:rPr lang="en-US" sz="135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, care poate ajuta un business să facă mai mult pentru angajații săi.</a:t>
            </a:r>
            <a:endParaRPr/>
          </a:p>
        </p:txBody>
      </p:sp>
      <p:sp>
        <p:nvSpPr>
          <p:cNvPr id="96" name="Google Shape;96;p14"/>
          <p:cNvSpPr txBox="1"/>
          <p:nvPr/>
        </p:nvSpPr>
        <p:spPr>
          <a:xfrm>
            <a:off x="3619575" y="4160745"/>
            <a:ext cx="4953000" cy="78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Prin Machine Learning, putem identifica angajații la risc </a:t>
            </a:r>
            <a:r>
              <a:rPr b="0" i="1" lang="en-US" sz="13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înainte</a:t>
            </a:r>
            <a:r>
              <a:rPr b="0" i="0" lang="en-US" sz="13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de extenuarea completă, permițând intervenții salvatoare de resurse și vieți.</a:t>
            </a:r>
            <a:endParaRPr/>
          </a:p>
        </p:txBody>
      </p:sp>
      <p:pic>
        <p:nvPicPr>
          <p:cNvPr descr="image.png" id="97" name="Google Shape;97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96000" y="0"/>
            <a:ext cx="1924050" cy="18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2" name="Google Shape;102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5"/>
          <p:cNvSpPr txBox="1"/>
          <p:nvPr/>
        </p:nvSpPr>
        <p:spPr>
          <a:xfrm>
            <a:off x="571500" y="381000"/>
            <a:ext cx="11601450" cy="5028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99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Dataset: </a:t>
            </a:r>
            <a:r>
              <a:rPr b="1" i="0" lang="en-US" sz="36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Workplace Survey</a:t>
            </a:r>
            <a:endParaRPr/>
          </a:p>
        </p:txBody>
      </p:sp>
      <p:sp>
        <p:nvSpPr>
          <p:cNvPr id="104" name="Google Shape;104;p15"/>
          <p:cNvSpPr txBox="1"/>
          <p:nvPr/>
        </p:nvSpPr>
        <p:spPr>
          <a:xfrm>
            <a:off x="571500" y="2184945"/>
            <a:ext cx="5334000" cy="4798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Am ales setul de date cu </a:t>
            </a:r>
            <a:r>
              <a:rPr b="1" i="0" lang="en-US" sz="13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3.000 de observații</a:t>
            </a:r>
            <a:r>
              <a:rPr b="0" i="0" lang="en-US" sz="13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datorită complexității sale ridicate:</a:t>
            </a:r>
            <a:endParaRPr/>
          </a:p>
        </p:txBody>
      </p:sp>
      <p:sp>
        <p:nvSpPr>
          <p:cNvPr id="105" name="Google Shape;105;p15"/>
          <p:cNvSpPr txBox="1"/>
          <p:nvPr/>
        </p:nvSpPr>
        <p:spPr>
          <a:xfrm>
            <a:off x="904875" y="2855267"/>
            <a:ext cx="5000625" cy="2399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25 de variabile</a:t>
            </a:r>
            <a:r>
              <a:rPr b="0" i="0" lang="en-US" sz="13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multidimensionale.</a:t>
            </a:r>
            <a:endParaRPr/>
          </a:p>
        </p:txBody>
      </p:sp>
      <p:sp>
        <p:nvSpPr>
          <p:cNvPr id="106" name="Google Shape;106;p15"/>
          <p:cNvSpPr txBox="1"/>
          <p:nvPr/>
        </p:nvSpPr>
        <p:spPr>
          <a:xfrm>
            <a:off x="904875" y="3238053"/>
            <a:ext cx="5000625" cy="2399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Integritate totală:</a:t>
            </a:r>
            <a:r>
              <a:rPr b="0" i="0" lang="en-US" sz="13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0 valori lipsă (NaN).</a:t>
            </a:r>
            <a:endParaRPr/>
          </a:p>
        </p:txBody>
      </p:sp>
      <p:sp>
        <p:nvSpPr>
          <p:cNvPr id="107" name="Google Shape;107;p15"/>
          <p:cNvSpPr txBox="1"/>
          <p:nvPr/>
        </p:nvSpPr>
        <p:spPr>
          <a:xfrm>
            <a:off x="904875" y="3620839"/>
            <a:ext cx="5000625" cy="2399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Clasificare clară:</a:t>
            </a:r>
            <a:r>
              <a:rPr b="0" i="0" lang="en-US" sz="13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Variabila țintă Burnout Risk (Binar).</a:t>
            </a:r>
            <a:endParaRPr/>
          </a:p>
        </p:txBody>
      </p:sp>
      <p:pic>
        <p:nvPicPr>
          <p:cNvPr descr="image.png" id="108" name="Google Shape;108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898130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9" name="Google Shape;109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3280916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0" name="Google Shape;110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3663701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649750" y="2013500"/>
            <a:ext cx="4707122" cy="3333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6" name="Google Shape;116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6"/>
          <p:cNvSpPr txBox="1"/>
          <p:nvPr/>
        </p:nvSpPr>
        <p:spPr>
          <a:xfrm>
            <a:off x="571500" y="381000"/>
            <a:ext cx="11601450" cy="5028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99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Parametrii de </a:t>
            </a:r>
            <a:r>
              <a:rPr b="1" i="0" lang="en-US" sz="36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Input</a:t>
            </a:r>
            <a:endParaRPr/>
          </a:p>
        </p:txBody>
      </p:sp>
      <p:graphicFrame>
        <p:nvGraphicFramePr>
          <p:cNvPr id="118" name="Google Shape;118;p16"/>
          <p:cNvGraphicFramePr/>
          <p:nvPr/>
        </p:nvGraphicFramePr>
        <p:xfrm>
          <a:off x="571500" y="249450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{48848615-40A1-48D3-9EAC-01F8D0EFC8EE}</a:tableStyleId>
              </a:tblPr>
              <a:tblGrid>
                <a:gridCol w="1885200"/>
                <a:gridCol w="5081725"/>
                <a:gridCol w="4082050"/>
              </a:tblGrid>
              <a:tr h="474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000000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Categorie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EFF9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000000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Variabile Cheie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EFF9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000000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Impact în Model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EFF9A"/>
                    </a:solidFill>
                  </a:tcPr>
                </a:tc>
              </a:tr>
              <a:tr h="474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F5F5F5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Muncă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5757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F5F5F5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WorkHoursPerWeek, JobSatisfaction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5757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F5F5F5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Critic / Corelație directă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57575"/>
                    </a:solidFill>
                  </a:tcPr>
                </a:tc>
              </a:tr>
              <a:tr h="474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F5F5F5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Suport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5757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F5F5F5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ManagerSupportScore, TherapyAccess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5757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F5F5F5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Factor de protecție / Reziliență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57575"/>
                    </a:solidFill>
                  </a:tcPr>
                </a:tc>
              </a:tr>
              <a:tr h="474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F5F5F5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Stil de Viață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5757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F5F5F5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SleepHours, PhysicalActivityHrs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5757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F5F5F5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Esențial pentru recuperare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57575"/>
                    </a:solidFill>
                  </a:tcPr>
                </a:tc>
              </a:tr>
              <a:tr h="474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F5F5F5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Externi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5757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F5F5F5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CommuteTime, RemoteWork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5757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F5F5F5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Amplificatori de stres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57575"/>
                    </a:solidFill>
                  </a:tcPr>
                </a:tc>
              </a:tr>
            </a:tbl>
          </a:graphicData>
        </a:graphic>
      </p:graphicFrame>
      <p:sp>
        <p:nvSpPr>
          <p:cNvPr id="119" name="Google Shape;119;p16"/>
          <p:cNvSpPr/>
          <p:nvPr/>
        </p:nvSpPr>
        <p:spPr>
          <a:xfrm>
            <a:off x="571500" y="3423195"/>
            <a:ext cx="1885205" cy="9525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16"/>
          <p:cNvSpPr/>
          <p:nvPr/>
        </p:nvSpPr>
        <p:spPr>
          <a:xfrm>
            <a:off x="2456705" y="3423195"/>
            <a:ext cx="5081736" cy="9525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16"/>
          <p:cNvSpPr/>
          <p:nvPr/>
        </p:nvSpPr>
        <p:spPr>
          <a:xfrm>
            <a:off x="7538442" y="3423195"/>
            <a:ext cx="4082057" cy="9525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16"/>
          <p:cNvSpPr/>
          <p:nvPr/>
        </p:nvSpPr>
        <p:spPr>
          <a:xfrm>
            <a:off x="571500" y="3899445"/>
            <a:ext cx="1885205" cy="9525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16"/>
          <p:cNvSpPr/>
          <p:nvPr/>
        </p:nvSpPr>
        <p:spPr>
          <a:xfrm>
            <a:off x="2456705" y="3899445"/>
            <a:ext cx="5081736" cy="9525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16"/>
          <p:cNvSpPr/>
          <p:nvPr/>
        </p:nvSpPr>
        <p:spPr>
          <a:xfrm>
            <a:off x="7538442" y="3899445"/>
            <a:ext cx="4082057" cy="9525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16"/>
          <p:cNvSpPr/>
          <p:nvPr/>
        </p:nvSpPr>
        <p:spPr>
          <a:xfrm>
            <a:off x="571500" y="4375695"/>
            <a:ext cx="1885205" cy="9525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16"/>
          <p:cNvSpPr/>
          <p:nvPr/>
        </p:nvSpPr>
        <p:spPr>
          <a:xfrm>
            <a:off x="2456705" y="4375695"/>
            <a:ext cx="5081736" cy="9525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16"/>
          <p:cNvSpPr/>
          <p:nvPr/>
        </p:nvSpPr>
        <p:spPr>
          <a:xfrm>
            <a:off x="7538442" y="4375695"/>
            <a:ext cx="4082057" cy="9525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16"/>
          <p:cNvSpPr/>
          <p:nvPr/>
        </p:nvSpPr>
        <p:spPr>
          <a:xfrm>
            <a:off x="571500" y="4851945"/>
            <a:ext cx="1885205" cy="9525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16"/>
          <p:cNvSpPr/>
          <p:nvPr/>
        </p:nvSpPr>
        <p:spPr>
          <a:xfrm>
            <a:off x="2456705" y="4851945"/>
            <a:ext cx="5081736" cy="9525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16"/>
          <p:cNvSpPr/>
          <p:nvPr/>
        </p:nvSpPr>
        <p:spPr>
          <a:xfrm>
            <a:off x="7538442" y="4851945"/>
            <a:ext cx="4082057" cy="9525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5" name="Google Shape;135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6" name="Google Shape;136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013495"/>
            <a:ext cx="5334000" cy="3333750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7"/>
          <p:cNvSpPr txBox="1"/>
          <p:nvPr/>
        </p:nvSpPr>
        <p:spPr>
          <a:xfrm>
            <a:off x="571500" y="381000"/>
            <a:ext cx="11601450" cy="5028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99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Metodologie de </a:t>
            </a:r>
            <a:r>
              <a:rPr b="1" i="0" lang="en-US" sz="36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Curățare</a:t>
            </a:r>
            <a:endParaRPr/>
          </a:p>
        </p:txBody>
      </p:sp>
      <p:sp>
        <p:nvSpPr>
          <p:cNvPr id="138" name="Google Shape;138;p17"/>
          <p:cNvSpPr txBox="1"/>
          <p:nvPr/>
        </p:nvSpPr>
        <p:spPr>
          <a:xfrm>
            <a:off x="847725" y="2251620"/>
            <a:ext cx="5060632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Pregătirea Datelor</a:t>
            </a:r>
            <a:endParaRPr/>
          </a:p>
        </p:txBody>
      </p:sp>
      <p:sp>
        <p:nvSpPr>
          <p:cNvPr id="139" name="Google Shape;139;p17"/>
          <p:cNvSpPr txBox="1"/>
          <p:nvPr/>
        </p:nvSpPr>
        <p:spPr>
          <a:xfrm>
            <a:off x="847725" y="2699295"/>
            <a:ext cx="4819650" cy="4798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Am eliminat identificatorii unici (EmployeeID) pentru a evita </a:t>
            </a:r>
            <a:r>
              <a:rPr b="1" i="0" lang="en-US" sz="13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overfitting-ul</a:t>
            </a:r>
            <a:r>
              <a:rPr b="0" i="0" lang="en-US" sz="13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.</a:t>
            </a:r>
            <a:endParaRPr/>
          </a:p>
        </p:txBody>
      </p:sp>
      <p:sp>
        <p:nvSpPr>
          <p:cNvPr id="140" name="Google Shape;140;p17"/>
          <p:cNvSpPr txBox="1"/>
          <p:nvPr/>
        </p:nvSpPr>
        <p:spPr>
          <a:xfrm>
            <a:off x="847725" y="3350567"/>
            <a:ext cx="4819650" cy="7197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Variabilele "Yes/No" au fost mapate binar (1/0), iar cele categorice (Gender, RemoteWork) au fost transformate prin </a:t>
            </a:r>
            <a:r>
              <a:rPr b="1" i="0" lang="en-US" sz="13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One-Hot Encoding</a:t>
            </a:r>
            <a:r>
              <a:rPr b="0" i="0" lang="en-US" sz="13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.</a:t>
            </a:r>
            <a:endParaRPr/>
          </a:p>
        </p:txBody>
      </p:sp>
      <p:pic>
        <p:nvPicPr>
          <p:cNvPr id="141" name="Google Shape;141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763425" y="1946775"/>
            <a:ext cx="5060625" cy="346719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6" name="Google Shape;146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7" name="Google Shape;147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90550" y="3354819"/>
            <a:ext cx="11049000" cy="11419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8" name="Google Shape;148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1455390"/>
            <a:ext cx="5334000" cy="157519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9" name="Google Shape;149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86500" y="1455390"/>
            <a:ext cx="5334000" cy="1575196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18"/>
          <p:cNvSpPr txBox="1"/>
          <p:nvPr/>
        </p:nvSpPr>
        <p:spPr>
          <a:xfrm>
            <a:off x="571500" y="381000"/>
            <a:ext cx="11601450" cy="5028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99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Ingineria </a:t>
            </a:r>
            <a:r>
              <a:rPr b="1" i="0" lang="en-US" sz="36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Caracteristicilor</a:t>
            </a:r>
            <a:endParaRPr/>
          </a:p>
        </p:txBody>
      </p:sp>
      <p:sp>
        <p:nvSpPr>
          <p:cNvPr id="151" name="Google Shape;151;p18"/>
          <p:cNvSpPr txBox="1"/>
          <p:nvPr/>
        </p:nvSpPr>
        <p:spPr>
          <a:xfrm>
            <a:off x="847725" y="3459212"/>
            <a:ext cx="11061300" cy="27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WellnessIndex (0-100)</a:t>
            </a:r>
            <a:endParaRPr/>
          </a:p>
        </p:txBody>
      </p:sp>
      <p:sp>
        <p:nvSpPr>
          <p:cNvPr id="152" name="Google Shape;152;p18"/>
          <p:cNvSpPr txBox="1"/>
          <p:nvPr/>
        </p:nvSpPr>
        <p:spPr>
          <a:xfrm>
            <a:off x="847725" y="3906887"/>
            <a:ext cx="10534650" cy="2399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Un indicator integrat care măsoară sănătatea mentala, echilibrul muncă-viață și satisfacția profesională.</a:t>
            </a:r>
            <a:endParaRPr/>
          </a:p>
        </p:txBody>
      </p:sp>
      <p:sp>
        <p:nvSpPr>
          <p:cNvPr id="153" name="Google Shape;153;p18"/>
          <p:cNvSpPr txBox="1"/>
          <p:nvPr/>
        </p:nvSpPr>
        <p:spPr>
          <a:xfrm>
            <a:off x="847725" y="1693515"/>
            <a:ext cx="5060632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StressSupportRatio</a:t>
            </a:r>
            <a:endParaRPr/>
          </a:p>
        </p:txBody>
      </p:sp>
      <p:sp>
        <p:nvSpPr>
          <p:cNvPr id="154" name="Google Shape;154;p18"/>
          <p:cNvSpPr txBox="1"/>
          <p:nvPr/>
        </p:nvSpPr>
        <p:spPr>
          <a:xfrm>
            <a:off x="847725" y="2141190"/>
            <a:ext cx="4819650" cy="4798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Raportul dintre nivelul de stres și ajutorul primit de la manager. Evidențiază presiunea fără susținere.</a:t>
            </a:r>
            <a:endParaRPr/>
          </a:p>
        </p:txBody>
      </p:sp>
      <p:sp>
        <p:nvSpPr>
          <p:cNvPr id="155" name="Google Shape;155;p18"/>
          <p:cNvSpPr txBox="1"/>
          <p:nvPr/>
        </p:nvSpPr>
        <p:spPr>
          <a:xfrm>
            <a:off x="6562725" y="1693515"/>
            <a:ext cx="5060632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RecoveryIndex</a:t>
            </a:r>
            <a:endParaRPr/>
          </a:p>
        </p:txBody>
      </p:sp>
      <p:sp>
        <p:nvSpPr>
          <p:cNvPr id="156" name="Google Shape;156;p18"/>
          <p:cNvSpPr txBox="1"/>
          <p:nvPr/>
        </p:nvSpPr>
        <p:spPr>
          <a:xfrm>
            <a:off x="6562725" y="2141190"/>
            <a:ext cx="4819650" cy="4798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Combină orele de somn cu activitatea fizică saptămânală. Un predictor direct al capacității de refacere.</a:t>
            </a:r>
            <a:endParaRPr/>
          </a:p>
        </p:txBody>
      </p:sp>
      <p:pic>
        <p:nvPicPr>
          <p:cNvPr descr="image.png" id="157" name="Google Shape;157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4821032"/>
            <a:ext cx="11049000" cy="1141950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18"/>
          <p:cNvSpPr txBox="1"/>
          <p:nvPr/>
        </p:nvSpPr>
        <p:spPr>
          <a:xfrm>
            <a:off x="673925" y="4865462"/>
            <a:ext cx="11061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CommuteTime</a:t>
            </a:r>
            <a:endParaRPr/>
          </a:p>
        </p:txBody>
      </p:sp>
      <p:sp>
        <p:nvSpPr>
          <p:cNvPr id="159" name="Google Shape;159;p18"/>
          <p:cNvSpPr txBox="1"/>
          <p:nvPr/>
        </p:nvSpPr>
        <p:spPr>
          <a:xfrm>
            <a:off x="673925" y="5288062"/>
            <a:ext cx="105348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Felul în care putem să întelegem de ce un schimb de 8 ore impune mai mult stress decat doar cele 8 ore de lucru.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4" name="Google Shape;164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779526" y="352463"/>
            <a:ext cx="8632951" cy="6153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0" name="Google Shape;170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1" name="Google Shape;171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810023"/>
            <a:ext cx="11049000" cy="1740693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20"/>
          <p:cNvSpPr txBox="1"/>
          <p:nvPr/>
        </p:nvSpPr>
        <p:spPr>
          <a:xfrm>
            <a:off x="571500" y="381000"/>
            <a:ext cx="11601450" cy="5028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99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Selecția </a:t>
            </a:r>
            <a:r>
              <a:rPr b="1" i="0" lang="en-US" sz="36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Algoritmilor</a:t>
            </a:r>
            <a:endParaRPr/>
          </a:p>
        </p:txBody>
      </p:sp>
      <p:sp>
        <p:nvSpPr>
          <p:cNvPr id="173" name="Google Shape;173;p20"/>
          <p:cNvSpPr txBox="1"/>
          <p:nvPr/>
        </p:nvSpPr>
        <p:spPr>
          <a:xfrm>
            <a:off x="571500" y="2981473"/>
            <a:ext cx="5334000" cy="2399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Am comparat 3 abordări fundamentale:</a:t>
            </a:r>
            <a:endParaRPr/>
          </a:p>
        </p:txBody>
      </p:sp>
      <p:sp>
        <p:nvSpPr>
          <p:cNvPr id="174" name="Google Shape;174;p20"/>
          <p:cNvSpPr txBox="1"/>
          <p:nvPr/>
        </p:nvSpPr>
        <p:spPr>
          <a:xfrm>
            <a:off x="904875" y="3392834"/>
            <a:ext cx="5000625" cy="2399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Random Forest:</a:t>
            </a:r>
            <a:r>
              <a:rPr b="0" i="0" lang="en-US" sz="13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Robust, dar imun la redundanță.</a:t>
            </a:r>
            <a:endParaRPr/>
          </a:p>
        </p:txBody>
      </p:sp>
      <p:sp>
        <p:nvSpPr>
          <p:cNvPr id="175" name="Google Shape;175;p20"/>
          <p:cNvSpPr txBox="1"/>
          <p:nvPr/>
        </p:nvSpPr>
        <p:spPr>
          <a:xfrm>
            <a:off x="904875" y="3775620"/>
            <a:ext cx="5000625" cy="2399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KNN:</a:t>
            </a:r>
            <a:r>
              <a:rPr b="0" i="0" lang="en-US" sz="13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Excelent pentru detectarea proximității riscului.</a:t>
            </a:r>
            <a:endParaRPr/>
          </a:p>
        </p:txBody>
      </p:sp>
      <p:sp>
        <p:nvSpPr>
          <p:cNvPr id="176" name="Google Shape;176;p20"/>
          <p:cNvSpPr txBox="1"/>
          <p:nvPr/>
        </p:nvSpPr>
        <p:spPr>
          <a:xfrm>
            <a:off x="904875" y="4158406"/>
            <a:ext cx="5000625" cy="2399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XGBoost:</a:t>
            </a:r>
            <a:r>
              <a:rPr b="0" i="0" lang="en-US" sz="13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Performanță superioară pe date dezechilibrate.</a:t>
            </a:r>
            <a:endParaRPr/>
          </a:p>
        </p:txBody>
      </p:sp>
      <p:pic>
        <p:nvPicPr>
          <p:cNvPr descr="image.png" id="177" name="Google Shape;177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3435697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8" name="Google Shape;178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3818483"/>
            <a:ext cx="23812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9" name="Google Shape;179;p2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4201269"/>
            <a:ext cx="171450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4" name="Google Shape;184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5" name="Google Shape;185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6500" y="2567136"/>
            <a:ext cx="5334000" cy="2226468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21"/>
          <p:cNvSpPr txBox="1"/>
          <p:nvPr/>
        </p:nvSpPr>
        <p:spPr>
          <a:xfrm>
            <a:off x="571500" y="381000"/>
            <a:ext cx="11601450" cy="5028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99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Modelul Final: </a:t>
            </a:r>
            <a:r>
              <a:rPr b="1" i="0" lang="en-US" sz="36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XGBoost</a:t>
            </a:r>
            <a:endParaRPr/>
          </a:p>
        </p:txBody>
      </p:sp>
      <p:sp>
        <p:nvSpPr>
          <p:cNvPr id="187" name="Google Shape;187;p21"/>
          <p:cNvSpPr txBox="1"/>
          <p:nvPr/>
        </p:nvSpPr>
        <p:spPr>
          <a:xfrm>
            <a:off x="571500" y="1795193"/>
            <a:ext cx="5334000" cy="13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0.9</a:t>
            </a:r>
            <a:r>
              <a:rPr b="1" lang="en-US" sz="9000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0</a:t>
            </a:r>
            <a:endParaRPr/>
          </a:p>
        </p:txBody>
      </p:sp>
      <p:sp>
        <p:nvSpPr>
          <p:cNvPr id="188" name="Google Shape;188;p21"/>
          <p:cNvSpPr txBox="1"/>
          <p:nvPr/>
        </p:nvSpPr>
        <p:spPr>
          <a:xfrm>
            <a:off x="571500" y="3081480"/>
            <a:ext cx="5334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Scor Recall</a:t>
            </a:r>
            <a:endParaRPr/>
          </a:p>
        </p:txBody>
      </p:sp>
      <p:sp>
        <p:nvSpPr>
          <p:cNvPr id="189" name="Google Shape;189;p21"/>
          <p:cNvSpPr txBox="1"/>
          <p:nvPr/>
        </p:nvSpPr>
        <p:spPr>
          <a:xfrm>
            <a:off x="6562725" y="2805261"/>
            <a:ext cx="5060632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Minimizarea Alartelor False</a:t>
            </a:r>
            <a:endParaRPr/>
          </a:p>
        </p:txBody>
      </p:sp>
      <p:sp>
        <p:nvSpPr>
          <p:cNvPr id="190" name="Google Shape;190;p21"/>
          <p:cNvSpPr txBox="1"/>
          <p:nvPr/>
        </p:nvSpPr>
        <p:spPr>
          <a:xfrm>
            <a:off x="6562725" y="3252936"/>
            <a:ext cx="4819650" cy="7197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În HR, este vital să nu pierdem niciun caz real de burnout (Fals Negativ). XGBoost a atins cel mai mare Recall, asigurând o detecție aproape completă a angajaților aflați la risc.</a:t>
            </a:r>
            <a:endParaRPr/>
          </a:p>
        </p:txBody>
      </p:sp>
      <p:sp>
        <p:nvSpPr>
          <p:cNvPr id="191" name="Google Shape;191;p21"/>
          <p:cNvSpPr txBox="1"/>
          <p:nvPr/>
        </p:nvSpPr>
        <p:spPr>
          <a:xfrm>
            <a:off x="6562725" y="4144119"/>
            <a:ext cx="4819650" cy="2399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Scorul </a:t>
            </a:r>
            <a:r>
              <a:rPr b="1" i="0" lang="en-US" sz="13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F1 optim</a:t>
            </a:r>
            <a:r>
              <a:rPr b="0" i="0" lang="en-US" sz="13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confirmă un echilibru între precizie și sensibilitate.</a:t>
            </a:r>
            <a:endParaRPr/>
          </a:p>
        </p:txBody>
      </p:sp>
      <p:sp>
        <p:nvSpPr>
          <p:cNvPr id="192" name="Google Shape;192;p21"/>
          <p:cNvSpPr txBox="1"/>
          <p:nvPr/>
        </p:nvSpPr>
        <p:spPr>
          <a:xfrm>
            <a:off x="571500" y="3571368"/>
            <a:ext cx="5334000" cy="13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0.9</a:t>
            </a:r>
            <a:r>
              <a:rPr b="1" lang="en-US" sz="9000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3</a:t>
            </a:r>
            <a:endParaRPr/>
          </a:p>
        </p:txBody>
      </p:sp>
      <p:sp>
        <p:nvSpPr>
          <p:cNvPr id="193" name="Google Shape;193;p21"/>
          <p:cNvSpPr txBox="1"/>
          <p:nvPr/>
        </p:nvSpPr>
        <p:spPr>
          <a:xfrm>
            <a:off x="571500" y="4956780"/>
            <a:ext cx="5334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Scor F1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8" name="Google Shape;198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9" name="Google Shape;199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455390"/>
            <a:ext cx="11049000" cy="4450109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22"/>
          <p:cNvSpPr txBox="1"/>
          <p:nvPr/>
        </p:nvSpPr>
        <p:spPr>
          <a:xfrm>
            <a:off x="571500" y="381000"/>
            <a:ext cx="11601450" cy="5028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99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Corelații și </a:t>
            </a:r>
            <a:r>
              <a:rPr b="1" i="0" lang="en-US" sz="36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Insights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5" name="Google Shape;205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6" name="Google Shape;206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1250" y="2062769"/>
            <a:ext cx="11049000" cy="1283825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23"/>
          <p:cNvSpPr txBox="1"/>
          <p:nvPr/>
        </p:nvSpPr>
        <p:spPr>
          <a:xfrm>
            <a:off x="571500" y="898950"/>
            <a:ext cx="116016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99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Lecții </a:t>
            </a:r>
            <a:r>
              <a:rPr b="1" i="0" lang="en-US" sz="36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Învățate</a:t>
            </a:r>
            <a:endParaRPr/>
          </a:p>
        </p:txBody>
      </p:sp>
      <p:sp>
        <p:nvSpPr>
          <p:cNvPr id="208" name="Google Shape;208;p23"/>
          <p:cNvSpPr txBox="1"/>
          <p:nvPr/>
        </p:nvSpPr>
        <p:spPr>
          <a:xfrm>
            <a:off x="828675" y="2544690"/>
            <a:ext cx="10534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8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"Machine Learning nu este doar despre acuratețe matematică, ci despre decizii umane fundamentate."</a:t>
            </a:r>
            <a:endParaRPr/>
          </a:p>
        </p:txBody>
      </p:sp>
      <p:sp>
        <p:nvSpPr>
          <p:cNvPr id="209" name="Google Shape;209;p23"/>
          <p:cNvSpPr txBox="1"/>
          <p:nvPr/>
        </p:nvSpPr>
        <p:spPr>
          <a:xfrm>
            <a:off x="571500" y="4115105"/>
            <a:ext cx="107157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Recall vs Acuratețe:</a:t>
            </a:r>
            <a:r>
              <a:rPr b="0" i="0" lang="en-US" sz="13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În sănătate mentală, Recall-ul primează pentru a proteja capitalul uman.</a:t>
            </a:r>
            <a:endParaRPr/>
          </a:p>
        </p:txBody>
      </p:sp>
      <p:sp>
        <p:nvSpPr>
          <p:cNvPr id="210" name="Google Shape;210;p23"/>
          <p:cNvSpPr txBox="1"/>
          <p:nvPr/>
        </p:nvSpPr>
        <p:spPr>
          <a:xfrm>
            <a:off x="571500" y="4525466"/>
            <a:ext cx="107157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Interpretarea Domeniului:</a:t>
            </a:r>
            <a:r>
              <a:rPr b="0" i="0" lang="en-US" sz="13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Importanța înțelegerii contextului HR pentru a traduce metricile în acțiuni de suport.</a:t>
            </a:r>
            <a:endParaRPr/>
          </a:p>
        </p:txBody>
      </p:sp>
      <p:sp>
        <p:nvSpPr>
          <p:cNvPr id="211" name="Google Shape;211;p23"/>
          <p:cNvSpPr txBox="1"/>
          <p:nvPr/>
        </p:nvSpPr>
        <p:spPr>
          <a:xfrm>
            <a:off x="571488" y="4935839"/>
            <a:ext cx="107157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Proactivitate:</a:t>
            </a:r>
            <a:r>
              <a:rPr b="0" i="0" lang="en-US" sz="13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Modelul transformă datele brute în prevenție activă.</a:t>
            </a:r>
            <a:endParaRPr/>
          </a:p>
        </p:txBody>
      </p:sp>
      <p:pic>
        <p:nvPicPr>
          <p:cNvPr descr="image.png" id="212" name="Google Shape;212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42400" y="4529404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3" name="Google Shape;213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42400" y="4935828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4" name="Google Shape;214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42400" y="4122976"/>
            <a:ext cx="171450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19" name="Google Shape;219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24"/>
          <p:cNvSpPr txBox="1"/>
          <p:nvPr/>
        </p:nvSpPr>
        <p:spPr>
          <a:xfrm>
            <a:off x="295275" y="1916459"/>
            <a:ext cx="1160145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Vă mulțumesc!</a:t>
            </a:r>
            <a:endParaRPr/>
          </a:p>
        </p:txBody>
      </p:sp>
      <p:sp>
        <p:nvSpPr>
          <p:cNvPr id="221" name="Google Shape;221;p24"/>
          <p:cNvSpPr txBox="1"/>
          <p:nvPr/>
        </p:nvSpPr>
        <p:spPr>
          <a:xfrm>
            <a:off x="571500" y="3002309"/>
            <a:ext cx="11049000" cy="2399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Aștept cu interes întrebările dumneavoastră.</a:t>
            </a:r>
            <a:endParaRPr/>
          </a:p>
        </p:txBody>
      </p:sp>
      <p:sp>
        <p:nvSpPr>
          <p:cNvPr id="222" name="Google Shape;222;p24"/>
          <p:cNvSpPr txBox="1"/>
          <p:nvPr/>
        </p:nvSpPr>
        <p:spPr>
          <a:xfrm>
            <a:off x="571500" y="3538920"/>
            <a:ext cx="1104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5240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|</a:t>
            </a:r>
            <a:r>
              <a:rPr b="0" i="0" lang="en-US" sz="12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github.com/marcomihalca</a:t>
            </a:r>
            <a:endParaRPr/>
          </a:p>
        </p:txBody>
      </p:sp>
      <p:pic>
        <p:nvPicPr>
          <p:cNvPr descr="image.png" id="223" name="Google Shape;223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57475" y="4020420"/>
            <a:ext cx="152400" cy="152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